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Tech</c:v>
                </c:pt>
                <c:pt idx="1">
                  <c:v>Finance</c:v>
                </c:pt>
                <c:pt idx="2">
                  <c:v>Healthcare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120</c:v>
                </c:pt>
                <c:pt idx="2">
                  <c:v>115</c:v>
                </c:pt>
                <c:pt idx="3">
                  <c:v>140</c:v>
                </c:pt>
                <c:pt idx="4">
                  <c:v>160</c:v>
                </c:pt>
                <c:pt idx="5">
                  <c:v>155</c:v>
                </c:pt>
                <c:pt idx="6">
                  <c:v>180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ETFs S&amp;P 500</c:v>
                </c:pt>
                <c:pt idx="1">
                  <c:v>Deuda Gubernamental</c:v>
                </c:pt>
                <c:pt idx="2">
                  <c:v>Acciones Tech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Banda P90 (Optimista)</c:v>
                </c:pt>
              </c:strCache>
            </c:strRef>
          </c:tx>
          <c:spPr>
            <a:solidFill>
              <a:srgbClr val="10B981"/>
            </a:solidFill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S0</c:v>
                  </c:pt>
                  <c:pt idx="1">
                    <c:v>S4</c:v>
                  </c:pt>
                  <c:pt idx="2">
                    <c:v>S8</c:v>
                  </c:pt>
                  <c:pt idx="3">
                    <c:v>S12</c:v>
                  </c:pt>
                  <c:pt idx="4">
                    <c:v>S16</c:v>
                  </c:pt>
                  <c:pt idx="5">
                    <c:v>S20</c:v>
                  </c:pt>
                  <c:pt idx="6">
                    <c:v>S24</c:v>
                  </c:pt>
                  <c:pt idx="7">
                    <c:v>S28</c:v>
                  </c:pt>
                  <c:pt idx="8">
                    <c:v>S32</c:v>
                  </c:pt>
                  <c:pt idx="9">
                    <c:v>S36</c:v>
                  </c:pt>
                  <c:pt idx="10">
                    <c:v>S40</c:v>
                  </c:pt>
                  <c:pt idx="11">
                    <c:v>S44</c:v>
                  </c:pt>
                  <c:pt idx="12">
                    <c:v>S48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500</c:v>
                </c:pt>
                <c:pt idx="1">
                  <c:v>650</c:v>
                </c:pt>
                <c:pt idx="2">
                  <c:v>800</c:v>
                </c:pt>
                <c:pt idx="3">
                  <c:v>1000</c:v>
                </c:pt>
                <c:pt idx="4">
                  <c:v>1200</c:v>
                </c:pt>
                <c:pt idx="5">
                  <c:v>1400</c:v>
                </c:pt>
                <c:pt idx="6">
                  <c:v>1600</c:v>
                </c:pt>
                <c:pt idx="7">
                  <c:v>1800</c:v>
                </c:pt>
                <c:pt idx="8">
                  <c:v>2000</c:v>
                </c:pt>
                <c:pt idx="9">
                  <c:v>2200</c:v>
                </c:pt>
                <c:pt idx="10">
                  <c:v>2400</c:v>
                </c:pt>
                <c:pt idx="11">
                  <c:v>2600</c:v>
                </c:pt>
                <c:pt idx="12">
                  <c:v>2800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Banda P50 (Escenario Base)</c:v>
                </c:pt>
              </c:strCache>
            </c:strRef>
          </c:tx>
          <c:spPr>
            <a:solidFill>
              <a:srgbClr val="1B2A4A"/>
            </a:solidFill>
            <a:ln w="3175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S0</c:v>
                  </c:pt>
                  <c:pt idx="1">
                    <c:v>S4</c:v>
                  </c:pt>
                  <c:pt idx="2">
                    <c:v>S8</c:v>
                  </c:pt>
                  <c:pt idx="3">
                    <c:v>S12</c:v>
                  </c:pt>
                  <c:pt idx="4">
                    <c:v>S16</c:v>
                  </c:pt>
                  <c:pt idx="5">
                    <c:v>S20</c:v>
                  </c:pt>
                  <c:pt idx="6">
                    <c:v>S24</c:v>
                  </c:pt>
                  <c:pt idx="7">
                    <c:v>S28</c:v>
                  </c:pt>
                  <c:pt idx="8">
                    <c:v>S32</c:v>
                  </c:pt>
                  <c:pt idx="9">
                    <c:v>S36</c:v>
                  </c:pt>
                  <c:pt idx="10">
                    <c:v>S40</c:v>
                  </c:pt>
                  <c:pt idx="11">
                    <c:v>S44</c:v>
                  </c:pt>
                  <c:pt idx="12">
                    <c:v>S48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500</c:v>
                </c:pt>
                <c:pt idx="1">
                  <c:v>550</c:v>
                </c:pt>
                <c:pt idx="2">
                  <c:v>600</c:v>
                </c:pt>
                <c:pt idx="3">
                  <c:v>680</c:v>
                </c:pt>
                <c:pt idx="4">
                  <c:v>750</c:v>
                </c:pt>
                <c:pt idx="5">
                  <c:v>830</c:v>
                </c:pt>
                <c:pt idx="6">
                  <c:v>900</c:v>
                </c:pt>
                <c:pt idx="7">
                  <c:v>1000</c:v>
                </c:pt>
                <c:pt idx="8">
                  <c:v>1100</c:v>
                </c:pt>
                <c:pt idx="9">
                  <c:v>1200</c:v>
                </c:pt>
                <c:pt idx="10">
                  <c:v>1300</c:v>
                </c:pt>
                <c:pt idx="11">
                  <c:v>1400</c:v>
                </c:pt>
                <c:pt idx="12">
                  <c:v>1450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Banda P10 (Pesimista)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S0</c:v>
                  </c:pt>
                  <c:pt idx="1">
                    <c:v>S4</c:v>
                  </c:pt>
                  <c:pt idx="2">
                    <c:v>S8</c:v>
                  </c:pt>
                  <c:pt idx="3">
                    <c:v>S12</c:v>
                  </c:pt>
                  <c:pt idx="4">
                    <c:v>S16</c:v>
                  </c:pt>
                  <c:pt idx="5">
                    <c:v>S20</c:v>
                  </c:pt>
                  <c:pt idx="6">
                    <c:v>S24</c:v>
                  </c:pt>
                  <c:pt idx="7">
                    <c:v>S28</c:v>
                  </c:pt>
                  <c:pt idx="8">
                    <c:v>S32</c:v>
                  </c:pt>
                  <c:pt idx="9">
                    <c:v>S36</c:v>
                  </c:pt>
                  <c:pt idx="10">
                    <c:v>S40</c:v>
                  </c:pt>
                  <c:pt idx="11">
                    <c:v>S44</c:v>
                  </c:pt>
                  <c:pt idx="12">
                    <c:v>S48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500</c:v>
                </c:pt>
                <c:pt idx="1">
                  <c:v>510</c:v>
                </c:pt>
                <c:pt idx="2">
                  <c:v>520</c:v>
                </c:pt>
                <c:pt idx="3">
                  <c:v>530</c:v>
                </c:pt>
                <c:pt idx="4">
                  <c:v>540</c:v>
                </c:pt>
                <c:pt idx="5">
                  <c:v>560</c:v>
                </c:pt>
                <c:pt idx="6">
                  <c:v>580</c:v>
                </c:pt>
                <c:pt idx="7">
                  <c:v>600</c:v>
                </c:pt>
                <c:pt idx="8">
                  <c:v>610</c:v>
                </c:pt>
                <c:pt idx="9">
                  <c:v>580</c:v>
                </c:pt>
                <c:pt idx="10">
                  <c:v>560</c:v>
                </c:pt>
                <c:pt idx="11">
                  <c:v>530</c:v>
                </c:pt>
                <c:pt idx="12">
                  <c:v>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InvestTracker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Cartera de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 Tiempo Real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Ingeniería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 · UPP Hidalgo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4389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9593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858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status: online  |  project-tri0w.vercel.app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457200"/>
            <a:ext cx="34747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731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Value
</a:t>
            </a:r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$52,430.12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Today's Gain: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+$650.45  +3.2%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577840" y="22860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Chart 1" descr=""/>
          <p:cNvGraphicFramePr/>
          <p:nvPr/>
        </p:nvGraphicFramePr>
        <p:xfrm>
          <a:off x="7315200" y="2286000"/>
          <a:ext cx="13716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Aprender mercados dinámicos con herramientas estáticas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Financiera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Tradicional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29184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estudio teóricos y estáticos.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29184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históricos muertos y desactualizados.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329184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simulado en papel; sin impacto emocional.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329184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manuales propensos a errores.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377440"/>
            <a:ext cx="822960" cy="8229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Entorno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InvestTracker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2011680"/>
            <a:ext cx="329184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Experimentación activa con activos reales.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2560320"/>
            <a:ext cx="329184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dinámicos vía APIs (Twelve Data + Yahoo).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108960"/>
            <a:ext cx="329184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seguro (riesgo cero) con métricas en vivo.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657600"/>
            <a:ext cx="329184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Sharpe, Volatilidad, Max Drawdown.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4206240"/>
            <a:ext cx="3017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57800" y="42793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Twelve Data + Yahoo Finance API: CONNECTED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FinTech para la construcción 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portafolios simulados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 Real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acciones, bonos, ETFs, criptos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commodities con posiciones exactas.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Mercados en Vivo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645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NYSE, NASDAQ y BMV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Twelve Data + Yahoo Finance.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Cuantitativo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Monte Carlo a 52 semanas.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Sharpe y volatilidad.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Directa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383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de CSV para importar estados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cuenta automáticamente.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240280"/>
            <a:ext cx="2651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$7,051.04 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+3.58%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cristalización tecnológica del mapa curricular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74720" y="1645920"/>
            <a:ext cx="2194560" cy="1828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17373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Motor de
InvestTracker
</a:t>
            </a:r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La síntesis entre ingeniería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financiera, estadística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y desarrollo de software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914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Portafolios 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(8°)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468880"/>
            <a:ext cx="2011680" cy="914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Financieros (8°)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657600"/>
            <a:ext cx="2011680" cy="914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(9°)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(5°)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2011680" cy="914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TICs Financieras (7°)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Fund. Programación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(2°)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2468880"/>
            <a:ext cx="2011680" cy="914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(2°)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3657600"/>
            <a:ext cx="2011680" cy="9144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(7°)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Perfilamiento: Algoritmo de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Asesoramiento Activo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Psicológico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declarada (1-10)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Reacción ante caídas (-20% en bolsa)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previa (Ninguna a Alta)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Financiera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inversión (Años)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ingresos (1-4)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ahorro mensual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Conservadora:  min(Psicológico, Financiero)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↓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828800" y="3931920"/>
            <a:ext cx="5486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 Optimizado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4389120"/>
            <a:ext cx="301752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Acciones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4389120"/>
            <a:ext cx="15544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Bonos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 Estratégica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Resumen Financiero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Estratégica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463040"/>
          <a:ext cx="3474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del Portafolio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Total Aportado: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$150,000.00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Generado: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+$34,500.00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Final del Portafolio: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$184,500.00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937760" y="356616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23.0%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858000" y="356616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94944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Anual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Escenarios y Probabilidad de Meta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Monte Carlo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Optimista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$210,000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840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Medio (Promedio)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$182,000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840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Pesimista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$145,000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Financiera: $200,000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Estratégica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Diagnóstico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 Cálculo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Determinista Lineal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Proyección matemática estática sin considerar variabilidad ni riesgos de mercado.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2. Promedio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Estocástico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Monte Carlo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Incorpora volatilidad del mundo real y riesgo probabilístico mediante cientos de simulaciones.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846320" y="3017520"/>
            <a:ext cx="3840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alcanzarla: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75120" y="3017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5600" dirty="0"/>
          </a:p>
        </p:txBody>
      </p:sp>
      <p:sp>
        <p:nvSpPr>
          <p:cNvPr id="20" name="Text 17"/>
          <p:cNvSpPr/>
          <p:nvPr/>
        </p:nvSpPr>
        <p:spPr>
          <a:xfrm>
            <a:off x="502920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En ruta correcta.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aportaciones mensuales.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Estocástico: Metodología Monte Carlo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S(t+1) = S(t) · exp((μ - σ²/2)Δt + σ√Δt · Z)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retorno esperado (rendimientoPromedio)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volatilidad (0.10 = 10% anual)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variable aleatoria normal (Box-Muller)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intervalo temporal (1/12 para mensual)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960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Extracción de parámetros del perfil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 inversión del usuario.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92024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965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Cálculo de media (μ) y desviación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estándar (σ) por tipo de cartera.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292608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971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Generación de 200-500 trayectorias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aleatorias (distribución gaussiana).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393192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3977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Proyección de Movimiento Browniano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Geométrico por 52 semanas.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Riesgo: Escenarios a 52 Semanas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40080" y="1005840"/>
          <a:ext cx="7772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320040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3218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Alerta: Exposición &gt; 15%.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rebalanceo.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Usuario y Experiencia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560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41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Onboarding Seguro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Supabase Auth.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persistentes con JWT.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automático de perfil.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560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87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82880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18288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291840" y="822960"/>
            <a:ext cx="2560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841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 Principal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115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total, rendimiento diario,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 activas, KPIs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gráficas interactivas.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91840" y="1920240"/>
            <a:ext cx="2560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+3.58%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$1,245,678.90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 Activas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TSLA  $234.50  +3.86%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AAPL  $225.00  +1.2%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  $175.00  -0.5%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9788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6217920" y="822960"/>
            <a:ext cx="2560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841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Búsqueda y Compra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1115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de tickers con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autocompletado y cotización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 vía API.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1920240"/>
            <a:ext cx="2560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2011680"/>
            <a:ext cx="20116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Buscar: TSLA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2377440"/>
            <a:ext cx="201168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TSLA  Tesla Inc.  $234.90  +1.2%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92240" y="274320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TGLA  Trade GL   $235.00  +1.4%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310896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TSLA  Tonno Inc.  $235.30  +1.0%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Datos: Latencia Ultrabaja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(UI)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gestionadas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React 19.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57400" y="109728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procesa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petición en Vercel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(≈22ms latencia).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188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09728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6200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verifica schemas;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previene abuso.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23560" y="109728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 Twelve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Yahoo Finance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fallback (4s).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804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06640" y="109728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52360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el estado.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respuesta: ~22ms (edge) + ~4s (datos de mercado con fallback)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Tecnológico: Stack Moderno y Escalable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783080" y="146304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463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017520" y="146304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463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&amp; Datos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63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(100% tipado)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63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SWR (Caché interactiva)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406640" y="146304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463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(Validación)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Infra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(Auth + PostgreSQL)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783080" y="338328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Functions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017520" y="338328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(Rate Limit)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&amp; APIs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7760" y="338328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(Gráficas)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72200" y="338328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Data API (primaria)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406640" y="3383280"/>
            <a:ext cx="11430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(fallback)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~15,000 líneas TypeScript  ·  Vitest + Testing Library  ·  CI/CD con Vercel  ·  3 migraciones SQL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del Producto: Hacia una plataforma integral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146304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(Q2 2026):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y Benchmarking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291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de estrategias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históricas.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VaR y Beta.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S&amp;P 500 nativo.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508760"/>
            <a:ext cx="6400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914400"/>
            <a:ext cx="146304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(Q3 2026):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Técnica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320040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3291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RSI/MACD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 en código).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push.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educativo gamificado.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508760"/>
            <a:ext cx="64008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49440" y="914400"/>
            <a:ext cx="146304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(2027):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Institucional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20040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3291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Eficiente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Black-Litterman.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(React Native).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a Futuro: Hacia un Ecosistema Robusto y Real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Transición 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simulador a broker funcional.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plataformas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institucionales vía API (ej.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Brokers, GBM+)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fondeo real.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 de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Global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20116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del motor de datos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incluir S&amp;P 500, ETFs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globales y criptoactivos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hacia modelos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para análisis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 de activos.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926080" y="548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STATUS: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SYSTEM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ENVIRONMENT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en vivo: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project-tri0w.vercel.app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fuente: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github.com/dragenatt/investment-portfolio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Elaboró: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Anguiano Samaniego Diego Gael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Brito González Rolando Angello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Estrada Gerardo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InvestTracker — Simulador de Cartera de Inversión en Tiempo Real</dc:title>
  <dc:subject>PptxGenJS Presentation</dc:subject>
  <dc:creator>InvestTracker Team</dc:creator>
  <cp:lastModifiedBy>InvestTracker Team</cp:lastModifiedBy>
  <cp:revision>1</cp:revision>
  <dcterms:created xsi:type="dcterms:W3CDTF">2026-03-27T07:19:52Z</dcterms:created>
  <dcterms:modified xsi:type="dcterms:W3CDTF">2026-03-27T07:19:52Z</dcterms:modified>
</cp:coreProperties>
</file>